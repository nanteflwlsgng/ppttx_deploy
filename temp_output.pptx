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220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9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93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5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46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43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227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27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8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57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583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D3EC6E0-3987-4D81-8C64-2725B3D9EB76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F180C69-FCFB-4CD0-88C1-0590FEDBBE51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11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 et développement du Backend de système de gestion de banque de sang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Projet de fin de cycle pour l'obtention du diplôme de Licence Professionnelle</a:t>
            </a:r>
          </a:p>
          <a:p>
            <a:pPr>
              <a:spcAft>
                <a:spcPts val="1000"/>
              </a:spcAft>
              <a:defRPr sz="1800"/>
            </a:pPr>
            <a:r>
              <a:t>Présenté par : RANDRIANANDRASANA Léon Etienne</a:t>
            </a:r>
          </a:p>
          <a:p>
            <a:pPr>
              <a:spcAft>
                <a:spcPts val="1000"/>
              </a:spcAft>
              <a:defRPr sz="1800"/>
            </a:pPr>
            <a:r>
              <a:t>Mention : Informatique</a:t>
            </a:r>
          </a:p>
          <a:p>
            <a:pPr>
              <a:spcAft>
                <a:spcPts val="1000"/>
              </a:spcAft>
              <a:defRPr sz="1800"/>
            </a:pPr>
            <a:r>
              <a:t>Parcours : Développement d’Application Intranet – Internet</a:t>
            </a:r>
          </a:p>
          <a:p>
            <a:pPr>
              <a:spcAft>
                <a:spcPts val="1000"/>
              </a:spcAft>
              <a:defRPr sz="1800"/>
            </a:pPr>
            <a:r>
              <a:t>Institution : EMIT - Université de Fianarantsoa</a:t>
            </a:r>
          </a:p>
          <a:p>
            <a:pPr>
              <a:spcAft>
                <a:spcPts val="1000"/>
              </a:spcAft>
              <a:defRPr sz="1800"/>
            </a:pPr>
            <a:r>
              <a:t>Année universitaire : 2023 - 2024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1. Présentation générale (EMIT et CHU Tambohobe)</a:t>
            </a:r>
          </a:p>
          <a:p>
            <a:pPr>
              <a:spcAft>
                <a:spcPts val="1000"/>
              </a:spcAft>
              <a:defRPr sz="1800"/>
            </a:pPr>
            <a:r>
              <a:t>2. Présentation et problématique du projet</a:t>
            </a:r>
          </a:p>
          <a:p>
            <a:pPr>
              <a:spcAft>
                <a:spcPts val="1000"/>
              </a:spcAft>
              <a:defRPr sz="1800"/>
            </a:pPr>
            <a:r>
              <a:t>3. Méthodologie et outils de modélisation</a:t>
            </a:r>
          </a:p>
          <a:p>
            <a:pPr>
              <a:spcAft>
                <a:spcPts val="1000"/>
              </a:spcAft>
              <a:defRPr sz="1800"/>
            </a:pPr>
            <a:r>
              <a:t>4. Analyse et conception du système (UML)</a:t>
            </a:r>
          </a:p>
          <a:p>
            <a:pPr>
              <a:spcAft>
                <a:spcPts val="1000"/>
              </a:spcAft>
              <a:defRPr sz="1800"/>
            </a:pPr>
            <a:r>
              <a:t>5. Réalisation et choix technologiques</a:t>
            </a:r>
          </a:p>
          <a:p>
            <a:pPr>
              <a:spcAft>
                <a:spcPts val="1000"/>
              </a:spcAft>
              <a:defRPr sz="1800"/>
            </a:pPr>
            <a:r>
              <a:t>6. Démonstration et Conclusion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de l'EMIT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École de Management et d’Innovation Technologique</a:t>
            </a:r>
          </a:p>
          <a:p>
            <a:pPr>
              <a:spcAft>
                <a:spcPts val="1000"/>
              </a:spcAft>
              <a:defRPr sz="1800"/>
            </a:pPr>
            <a:r>
              <a:t>Missions : Formations initiales et continues en informatique, gestion et multimédia</a:t>
            </a:r>
          </a:p>
          <a:p>
            <a:pPr>
              <a:spcAft>
                <a:spcPts val="1000"/>
              </a:spcAft>
              <a:defRPr sz="1800"/>
            </a:pPr>
            <a:r>
              <a:t>Offre académique : Cycles Licence et Master (Système LMD)</a:t>
            </a:r>
          </a:p>
          <a:p>
            <a:pPr>
              <a:spcAft>
                <a:spcPts val="1000"/>
              </a:spcAft>
              <a:defRPr sz="1800"/>
            </a:pPr>
            <a:r>
              <a:t>Reconnue 'Meilleur Établissement' au Salon de la Recherche 2017</a:t>
            </a:r>
          </a:p>
          <a:p>
            <a:pPr>
              <a:spcAft>
                <a:spcPts val="1000"/>
              </a:spcAft>
              <a:defRPr sz="1800"/>
            </a:pPr>
            <a:r>
              <a:t>Structure : Conseil scientifique, Direction et Chefs de mentions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CHU Tambohobe et le CRTS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Cadre du stage : Centre Régional de Transfusion Sanguine (CRTS)</a:t>
            </a:r>
          </a:p>
          <a:p>
            <a:pPr>
              <a:spcAft>
                <a:spcPts val="1000"/>
              </a:spcAft>
              <a:defRPr sz="1800"/>
            </a:pPr>
            <a:r>
              <a:t>Historique : Création en 1901, évolution vers CHU en 2007</a:t>
            </a:r>
          </a:p>
          <a:p>
            <a:pPr>
              <a:spcAft>
                <a:spcPts val="1000"/>
              </a:spcAft>
              <a:defRPr sz="1800"/>
            </a:pPr>
            <a:r>
              <a:t>Missions : Assurer l'équité d'accès aux soins, diagnostic et traitement</a:t>
            </a:r>
          </a:p>
          <a:p>
            <a:pPr>
              <a:spcAft>
                <a:spcPts val="1000"/>
              </a:spcAft>
              <a:defRPr sz="1800"/>
            </a:pPr>
            <a:r>
              <a:t>Rôle crucial du CRTS : Gestion des dons et des stocks de sang pour la région Haute Matsiatra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Contexte : Importance vitale de la disponibilité du sang (urgences, pathologies)</a:t>
            </a:r>
          </a:p>
          <a:p>
            <a:pPr>
              <a:spcAft>
                <a:spcPts val="1000"/>
              </a:spcAft>
              <a:defRPr sz="1800"/>
            </a:pPr>
            <a:r>
              <a:t>Problématique : Gestion actuelle manuelle (registres papier) au CRTS</a:t>
            </a:r>
          </a:p>
          <a:p>
            <a:pPr>
              <a:spcAft>
                <a:spcPts val="1000"/>
              </a:spcAft>
              <a:defRPr sz="1800"/>
            </a:pPr>
            <a:r>
              <a:t>Risques : Lenteur de traitement, erreurs de saisie, manque de traçabilité en temps réel</a:t>
            </a:r>
          </a:p>
          <a:p>
            <a:pPr>
              <a:spcAft>
                <a:spcPts val="1000"/>
              </a:spcAft>
              <a:defRPr sz="1800"/>
            </a:pPr>
            <a:r>
              <a:t>Question centrale : Comment optimiser la gestion des stocks de sang via une solution informatique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Centraliser les données des donneurs et des dons</a:t>
            </a:r>
          </a:p>
          <a:p>
            <a:pPr>
              <a:spcAft>
                <a:spcPts val="1000"/>
              </a:spcAft>
              <a:defRPr sz="1800"/>
            </a:pPr>
            <a:r>
              <a:t>Automatiser le suivi des stocks par groupe sanguin</a:t>
            </a:r>
          </a:p>
          <a:p>
            <a:pPr>
              <a:spcAft>
                <a:spcPts val="1000"/>
              </a:spcAft>
              <a:defRPr sz="1800"/>
            </a:pPr>
            <a:r>
              <a:t>Garantir la traçabilité des poches (entrées et sorties)</a:t>
            </a:r>
          </a:p>
          <a:p>
            <a:pPr>
              <a:spcAft>
                <a:spcPts val="1000"/>
              </a:spcAft>
              <a:defRPr sz="1800"/>
            </a:pPr>
            <a:r>
              <a:t>Faciliter la recherche rapide d'informations en cas d'urgence</a:t>
            </a:r>
          </a:p>
          <a:p>
            <a:pPr>
              <a:spcAft>
                <a:spcPts val="1000"/>
              </a:spcAft>
              <a:defRPr sz="1800"/>
            </a:pPr>
            <a:r>
              <a:t>Fournir un outil d'aide à la décision pour le personnel du CRTS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Maître d'ouvrage : Major de Service du CRTS Tambohobe</a:t>
            </a:r>
          </a:p>
          <a:p>
            <a:pPr>
              <a:spcAft>
                <a:spcPts val="1000"/>
              </a:spcAft>
              <a:defRPr sz="1800"/>
            </a:pPr>
            <a:r>
              <a:t>Maître d'œuvre : RANDRIANADRASANA Léon Etienne</a:t>
            </a:r>
          </a:p>
          <a:p>
            <a:pPr>
              <a:spcAft>
                <a:spcPts val="1000"/>
              </a:spcAft>
              <a:defRPr sz="1800"/>
            </a:pPr>
            <a:r>
              <a:t>Besoins fonctionnels : Authentification, gestion donneurs, suivi prélèvements, gestion stock</a:t>
            </a:r>
          </a:p>
          <a:p>
            <a:pPr>
              <a:spcAft>
                <a:spcPts val="1000"/>
              </a:spcAft>
              <a:defRPr sz="1800"/>
            </a:pPr>
            <a:r>
              <a:t>Contraintes : Sécurité des données et interface intuitive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 : Génie Logiciel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Choix du modèle : Cycle de vie en V</a:t>
            </a:r>
          </a:p>
          <a:p>
            <a:pPr>
              <a:spcAft>
                <a:spcPts val="1000"/>
              </a:spcAft>
              <a:defRPr sz="1800"/>
            </a:pPr>
            <a:r>
              <a:t>Justification : Meilleure réactivité par rapport au modèle en cascade</a:t>
            </a:r>
          </a:p>
          <a:p>
            <a:pPr>
              <a:spcAft>
                <a:spcPts val="1000"/>
              </a:spcAft>
              <a:defRPr sz="1800"/>
            </a:pPr>
            <a:r>
              <a:t>Phases : Analyse, Conception, Codage, Tests et Qualification</a:t>
            </a:r>
          </a:p>
          <a:p>
            <a:pPr>
              <a:spcAft>
                <a:spcPts val="1000"/>
              </a:spcAft>
              <a:defRPr sz="1800"/>
            </a:pPr>
            <a:r>
              <a:t>Avantages : Détection précoce des erreurs et validation rigoureuse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avec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Unified Modeling Language (UML 2.0)</a:t>
            </a:r>
          </a:p>
          <a:p>
            <a:pPr>
              <a:spcAft>
                <a:spcPts val="1000"/>
              </a:spcAft>
              <a:defRPr sz="1800"/>
            </a:pPr>
            <a:r>
              <a:t>Approche orientée objet pour une vision claire du système</a:t>
            </a:r>
          </a:p>
          <a:p>
            <a:pPr>
              <a:spcAft>
                <a:spcPts val="1000"/>
              </a:spcAft>
              <a:defRPr sz="1800"/>
            </a:pPr>
            <a:r>
              <a:t>Outil utilisé : Visual Paradigm</a:t>
            </a:r>
          </a:p>
          <a:p>
            <a:pPr>
              <a:spcAft>
                <a:spcPts val="1000"/>
              </a:spcAft>
              <a:defRPr sz="1800"/>
            </a:pPr>
            <a:r>
              <a:t>Diagrammes produits : Cas d'utilisation, Séquence, Activité et Classe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Besoins et Faisabilité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Faisabilité technique : Utilisation de technologies web modernes</a:t>
            </a:r>
          </a:p>
          <a:p>
            <a:pPr>
              <a:spcAft>
                <a:spcPts val="1000"/>
              </a:spcAft>
              <a:defRPr sz="1800"/>
            </a:pPr>
            <a:r>
              <a:t>Faisabilité organisationnelle : Pas de changement structurel requis pour le CRTS</a:t>
            </a:r>
          </a:p>
          <a:p>
            <a:pPr>
              <a:spcAft>
                <a:spcPts val="1000"/>
              </a:spcAft>
              <a:defRPr sz="1800"/>
            </a:pPr>
            <a:r>
              <a:t>Faisabilité économique : Projet soutenu par l'État (domaine de la santé)</a:t>
            </a:r>
          </a:p>
          <a:p>
            <a:pPr>
              <a:spcAft>
                <a:spcPts val="1000"/>
              </a:spcAft>
              <a:defRPr sz="1800"/>
            </a:pPr>
            <a:r>
              <a:t>Solution retenue : Application Web avec Backend robuste et Base de données relationnelle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Règles de Gestion (RG)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RG1 : Identification unique obligatoire pour chaque donneur</a:t>
            </a:r>
          </a:p>
          <a:p>
            <a:pPr>
              <a:spcAft>
                <a:spcPts val="1000"/>
              </a:spcAft>
              <a:defRPr sz="1800"/>
            </a:pPr>
            <a:r>
              <a:t>RG4 : Test obligatoire (VIH, Hépatite, Syphilis, Palu) avant stockage</a:t>
            </a:r>
          </a:p>
          <a:p>
            <a:pPr>
              <a:spcAft>
                <a:spcPts val="1000"/>
              </a:spcAft>
              <a:defRPr sz="1800"/>
            </a:pPr>
            <a:r>
              <a:t>RG6 : Mise à jour du stock en temps réel lors des entrées/sorties</a:t>
            </a:r>
          </a:p>
          <a:p>
            <a:pPr>
              <a:spcAft>
                <a:spcPts val="1000"/>
              </a:spcAft>
              <a:defRPr sz="1800"/>
            </a:pPr>
            <a:r>
              <a:t>RG11 : Confidentialité stricte des données médicales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 : Diagramme de Cas d'Utilisation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Acteur principal : Administrateur / Personnel autorisé</a:t>
            </a:r>
          </a:p>
          <a:p>
            <a:pPr>
              <a:spcAft>
                <a:spcPts val="1000"/>
              </a:spcAft>
              <a:defRPr sz="1800"/>
            </a:pPr>
            <a:r>
              <a:t>Fonctionnalités clés : Authentification, Gérer donneurs, Enregistrer prélèvements</a:t>
            </a:r>
          </a:p>
          <a:p>
            <a:pPr>
              <a:spcAft>
                <a:spcPts val="1000"/>
              </a:spcAft>
              <a:defRPr sz="1800"/>
            </a:pPr>
            <a:r>
              <a:t>Suivi des stocks : Consultation et alertes de pénurie</a:t>
            </a:r>
          </a:p>
          <a:p>
            <a:pPr>
              <a:spcAft>
                <a:spcPts val="1000"/>
              </a:spcAft>
              <a:defRPr sz="1800"/>
            </a:pPr>
            <a:r>
              <a:t>Extraction de rapports et statistiques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 : Diagramme de Séquence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Focus : Processus d'Authentification</a:t>
            </a:r>
          </a:p>
          <a:p>
            <a:pPr>
              <a:spcAft>
                <a:spcPts val="1000"/>
              </a:spcAft>
              <a:defRPr sz="1800"/>
            </a:pPr>
            <a:r>
              <a:t>Vérification des identifiants dans la base de données</a:t>
            </a:r>
          </a:p>
          <a:p>
            <a:pPr>
              <a:spcAft>
                <a:spcPts val="1000"/>
              </a:spcAft>
              <a:defRPr sz="1800"/>
            </a:pPr>
            <a:r>
              <a:t>Gestion des messages d'erreur et redirection vers l'accueil</a:t>
            </a:r>
          </a:p>
          <a:p>
            <a:pPr>
              <a:spcAft>
                <a:spcPts val="1000"/>
              </a:spcAft>
              <a:defRPr sz="1800"/>
            </a:pPr>
            <a:r>
              <a:t>Sécurisation des accès aux fonctionnalités critiques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Conception : Diagramme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Entités principales : Donneur, Don, Test, Stock, Utilisateur</a:t>
            </a:r>
          </a:p>
          <a:p>
            <a:pPr>
              <a:spcAft>
                <a:spcPts val="1000"/>
              </a:spcAft>
              <a:defRPr sz="1800"/>
            </a:pPr>
            <a:r>
              <a:t>Relations : Un donneur peut effectuer plusieurs dons</a:t>
            </a:r>
          </a:p>
          <a:p>
            <a:pPr>
              <a:spcAft>
                <a:spcPts val="1000"/>
              </a:spcAft>
              <a:defRPr sz="1800"/>
            </a:pPr>
            <a:r>
              <a:t>Intégrité : Chaque poche est liée à un résultat de test spécifique</a:t>
            </a:r>
          </a:p>
          <a:p>
            <a:pPr>
              <a:spcAft>
                <a:spcPts val="1000"/>
              </a:spcAft>
              <a:defRPr sz="1800"/>
            </a:pPr>
            <a:r>
              <a:t>Attributs clés : Numéro de poche, groupe sanguin, date d'expiration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Technologiques (Backend &amp; SGBD)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Langage : JavaScript / TypeScript</a:t>
            </a:r>
          </a:p>
          <a:p>
            <a:pPr>
              <a:spcAft>
                <a:spcPts val="1000"/>
              </a:spcAft>
              <a:defRPr sz="1800"/>
            </a:pPr>
            <a:r>
              <a:t>Framework Backend : NestJS (Robuste et scalable)</a:t>
            </a:r>
          </a:p>
          <a:p>
            <a:pPr>
              <a:spcAft>
                <a:spcPts val="1000"/>
              </a:spcAft>
              <a:defRPr sz="1800"/>
            </a:pPr>
            <a:r>
              <a:t>SGBD : PostgreSQL (Fiabilité, gestion des types complexes, gratuité)</a:t>
            </a:r>
          </a:p>
          <a:p>
            <a:pPr>
              <a:spcAft>
                <a:spcPts val="1000"/>
              </a:spcAft>
              <a:defRPr sz="1800"/>
            </a:pPr>
            <a:r>
              <a:t>Environnement : Visual Studio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Technologiques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Framework Frontend : Next.js</a:t>
            </a:r>
          </a:p>
          <a:p>
            <a:pPr>
              <a:spcAft>
                <a:spcPts val="1000"/>
              </a:spcAft>
              <a:defRPr sz="1800"/>
            </a:pPr>
            <a:r>
              <a:t>Avantages : Performance, SEO friendly, interface réactive</a:t>
            </a:r>
          </a:p>
          <a:p>
            <a:pPr>
              <a:spcAft>
                <a:spcPts val="1000"/>
              </a:spcAft>
              <a:defRPr sz="1800"/>
            </a:pPr>
            <a:r>
              <a:t>Langages : HTML5, CSS3, JavaScript</a:t>
            </a:r>
          </a:p>
          <a:p>
            <a:pPr>
              <a:spcAft>
                <a:spcPts val="1000"/>
              </a:spcAft>
              <a:defRPr sz="1800"/>
            </a:pPr>
            <a:r>
              <a:t>Expérience Utilisateur : Interface moderne et adaptée au milieu médical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Architecture logicielle : Pattern MVC (Modèle-Vue-Contrôleur)</a:t>
            </a:r>
          </a:p>
          <a:p>
            <a:pPr>
              <a:spcAft>
                <a:spcPts val="1000"/>
              </a:spcAft>
              <a:defRPr sz="1800"/>
            </a:pPr>
            <a:r>
              <a:t>Architecture matérielle : Client-Serveur</a:t>
            </a:r>
          </a:p>
          <a:p>
            <a:pPr>
              <a:spcAft>
                <a:spcPts val="1000"/>
              </a:spcAft>
              <a:defRPr sz="1800"/>
            </a:pPr>
            <a:r>
              <a:t>Communication : API REST entre le Frontend (Next.js) et le Backend (NestJS)</a:t>
            </a:r>
          </a:p>
          <a:p>
            <a:pPr>
              <a:spcAft>
                <a:spcPts val="1000"/>
              </a:spcAft>
              <a:defRPr sz="1800"/>
            </a:pPr>
            <a:r>
              <a:t>Sécurité : Authentification sécurisée et hachage des mots de passe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Présentation de l'Application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Interface d'authentification sécurisée</a:t>
            </a:r>
          </a:p>
          <a:p>
            <a:pPr>
              <a:spcAft>
                <a:spcPts val="1000"/>
              </a:spcAft>
              <a:defRPr sz="1800"/>
            </a:pPr>
            <a:r>
              <a:t>Tableau de bord (Dashboard) : Vue d'ensemble des stocks</a:t>
            </a:r>
          </a:p>
          <a:p>
            <a:pPr>
              <a:spcAft>
                <a:spcPts val="1000"/>
              </a:spcAft>
              <a:defRPr sz="1800"/>
            </a:pPr>
            <a:r>
              <a:t>Module de gestion des donneurs : Ajout, modification et liste</a:t>
            </a:r>
          </a:p>
          <a:p>
            <a:pPr>
              <a:spcAft>
                <a:spcPts val="1000"/>
              </a:spcAft>
              <a:defRPr sz="1800"/>
            </a:pPr>
            <a:r>
              <a:t>Module de suivi des prélèvements et résultats biologiques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Bilan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Résultats : Système opérationnel, centralisé et sécurisé</a:t>
            </a:r>
          </a:p>
          <a:p>
            <a:pPr>
              <a:spcAft>
                <a:spcPts val="1000"/>
              </a:spcAft>
              <a:defRPr sz="1800"/>
            </a:pPr>
            <a:r>
              <a:t>Gain : Réduction du temps de recherche et erreurs humaines éliminées</a:t>
            </a:r>
          </a:p>
          <a:p>
            <a:pPr>
              <a:spcAft>
                <a:spcPts val="1000"/>
              </a:spcAft>
              <a:defRPr sz="1800"/>
            </a:pPr>
            <a:r>
              <a:t>Perspectives 1 : Extension du système aux autres services du CHU</a:t>
            </a:r>
          </a:p>
          <a:p>
            <a:pPr>
              <a:spcAft>
                <a:spcPts val="1000"/>
              </a:spcAft>
              <a:defRPr sz="1800"/>
            </a:pPr>
            <a:r>
              <a:t>Perspectives 2 : Mise en place d'un système d'alertes SMS pour les donneurs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Transition réussie vers une gestion numérique au CRTS</a:t>
            </a:r>
          </a:p>
          <a:p>
            <a:pPr>
              <a:spcAft>
                <a:spcPts val="1000"/>
              </a:spcAft>
              <a:defRPr sz="1800"/>
            </a:pPr>
            <a:r>
              <a:t>Importance du Backend pour l'intégrité des données critiques</a:t>
            </a:r>
          </a:p>
          <a:p>
            <a:pPr>
              <a:spcAft>
                <a:spcPts val="1000"/>
              </a:spcAft>
              <a:defRPr sz="1800"/>
            </a:pPr>
            <a:r>
              <a:t>Projet aligné avec les objectifs de développement durable (ODD - Santé)</a:t>
            </a:r>
          </a:p>
          <a:p>
            <a:pPr>
              <a:spcAft>
                <a:spcPts val="1000"/>
              </a:spcAft>
              <a:defRPr sz="1800"/>
            </a:pPr>
            <a:r>
              <a:t>Merci pour votre attention. Avez-vous des questions 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Inté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é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é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Tw Cen MT</vt:lpstr>
      <vt:lpstr>Tw Cen MT Condensed</vt:lpstr>
      <vt:lpstr>Wingdings 3</vt:lpstr>
      <vt:lpstr>Intégral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FLWLSGNG</dc:creator>
  <cp:lastModifiedBy>FLWLSGNG</cp:lastModifiedBy>
  <cp:revision>2</cp:revision>
  <dcterms:created xsi:type="dcterms:W3CDTF">2026-01-26T07:53:49Z</dcterms:created>
  <dcterms:modified xsi:type="dcterms:W3CDTF">2026-01-26T08:04:35Z</dcterms:modified>
</cp:coreProperties>
</file>